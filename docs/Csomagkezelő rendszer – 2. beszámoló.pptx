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3" r:id="rId6"/>
    <p:sldId id="268" r:id="rId7"/>
    <p:sldId id="259" r:id="rId8"/>
    <p:sldId id="269" r:id="rId9"/>
    <p:sldId id="260" r:id="rId10"/>
    <p:sldId id="267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1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93421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0A35E"/>
          </a:solidFill>
        </p:spPr>
      </p:sp>
      <p:sp>
        <p:nvSpPr>
          <p:cNvPr id="3" name="Text 1"/>
          <p:cNvSpPr/>
          <p:nvPr/>
        </p:nvSpPr>
        <p:spPr>
          <a:xfrm>
            <a:off x="812800" y="2264410"/>
            <a:ext cx="1088339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PROJEKT LABOR · 2. BESZÁMOLÓ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67330"/>
            <a:ext cx="10883393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Csomagkezelő rendszer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3874770"/>
            <a:ext cx="9906001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Webes nyomkövető és kezelő rendszer egy regionális futárcég számára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471670"/>
            <a:ext cx="1088339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ASP.NET Core Web API · React · SQL Server · JWT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6202680"/>
            <a:ext cx="7848601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csoport (Budavári Nikolett, Ónodi Norbert, Restás László)                            2026. október 16.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1381" y="6238240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 ELMÚLT KÉT HÉT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Elindulhat a csomag útja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0880"/>
            <a:ext cx="9810751" cy="10198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Elkészült a csomag előjegyzése, a csomagazonosító és a nyilvános követés idővonallal. Bejelentkezve a feladó adatai maguktól kitöltődnek, az új kezdőlapon pedig egy helyen lehet követni és belépni. A dolgozatból megírtuk a bevezetést (6 oldal).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6" name="Image 0" descr="Glob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22773" y="3520864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773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Előjegyzés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2773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Vendégként, belépve elő</a:t>
            </a:r>
            <a:r>
              <a:rPr lang="hu-HU" alt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 ki</a:t>
            </a: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töltve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5973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0" name="Image 1" descr="Key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66533" y="3520864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66533" y="3927264"/>
            <a:ext cx="1622213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Csomag-azonosító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166533" y="451654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Egyedi GUID, az adatbázis is őrzi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0349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4" name="Image 2" descr="PaperPlan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10294" y="3520864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1029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Követés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31029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Idővonal a kezdőlapon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24725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8" name="Image 3" descr="Databas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54054" y="3520864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405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Kezdőlap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45405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Követés, belépés, gyors elérés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39101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22" name="Image 4" descr="Settings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97814" y="3520864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9781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Tesztek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59781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xUnit és Vitest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Feladás regisztrációval és nélküle 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2562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773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 adhat fel?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4279" y="2363893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Vendég, regisztráció nélkül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Belépve: feladó adatai elő</a:t>
            </a:r>
            <a:r>
              <a:rPr lang="hu-HU" alt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 ki</a:t>
            </a: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töltve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Lejárt token: hiba, nem vendégfeladás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908" y="186245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5707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időpontja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7213" y="2363893"/>
            <a:ext cx="2971478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Legkorábban a következő napra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Budapesti naptári nap szerint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Idősáv: 09:00–12:00 vagy 12:00–16:00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42" y="186245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8640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adatai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0146" y="2363893"/>
            <a:ext cx="2971478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Feladó és címzett: név, cím, telefon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Címzett e-mail címe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ClrTx/>
              <a:buSzTx/>
              <a:buFontTx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Méret (S, M, L), súly max. 30 kg, érték</a:t>
            </a:r>
            <a:endParaRPr lang="en-US" sz="1200" dirty="0">
              <a:solidFill>
                <a:srgbClr val="4A556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975" y="3770843"/>
            <a:ext cx="3414183" cy="1322917"/>
          </a:xfrm>
          <a:prstGeom prst="roundRect">
            <a:avLst>
              <a:gd name="adj" fmla="val 744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773" y="3952239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Ellenőrzés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4279" y="4272282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Kötelező mezők, formátum, hossz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Hibás adat nem kerül mentésre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mezőhibák a felületen is látszanak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908" y="3770843"/>
            <a:ext cx="3414183" cy="1322917"/>
          </a:xfrm>
          <a:prstGeom prst="roundRect">
            <a:avLst>
              <a:gd name="adj" fmla="val 744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5707" y="3952239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Eredmény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7213" y="4272282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Állapot: Előjegyezve (PreBooked)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Első bejegyzés a státuszelőzményben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Azonosító másolása, követési link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BEMUTATÓ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9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 élőben</a:t>
            </a:r>
            <a:endParaRPr lang="en-US" sz="3600" dirty="0"/>
          </a:p>
        </p:txBody>
      </p:sp>
      <p:sp>
        <p:nvSpPr>
          <p:cNvPr id="41" name="Video tipp"/>
          <p:cNvSpPr/>
          <p:nvPr/>
        </p:nvSpPr>
        <p:spPr>
          <a:xfrm>
            <a:off x="2451000" y="4700000"/>
            <a:ext cx="729000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  <p:pic>
        <p:nvPicPr>
          <p:cNvPr id="4" name="Rögzítés 2026-10-15 205349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2800" y="1767840"/>
            <a:ext cx="9749790" cy="4333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71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CSOMAGKÖVETÉS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9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Azonosítóval bárki követheti a csomagot</a:t>
            </a:r>
            <a:endParaRPr lang="en-US" sz="3600" dirty="0"/>
          </a:p>
        </p:txBody>
      </p:sp>
      <p:sp>
        <p:nvSpPr>
          <p:cNvPr id="101" name="Vegpont"/>
          <p:cNvSpPr/>
          <p:nvPr/>
        </p:nvSpPr>
        <p:spPr>
          <a:xfrm>
            <a:off x="812800" y="1960000"/>
            <a:ext cx="10566400" cy="1330000"/>
          </a:xfrm>
          <a:prstGeom prst="roundRect">
            <a:avLst>
              <a:gd name="adj" fmla="val 5360"/>
            </a:avLst>
          </a:prstGeom>
          <a:solidFill>
            <a:srgbClr val="14213D"/>
          </a:solidFill>
        </p:spPr>
      </p:sp>
      <p:sp>
        <p:nvSpPr>
          <p:cNvPr id="102" name="Vegpont cimke"/>
          <p:cNvSpPr/>
          <p:nvPr/>
        </p:nvSpPr>
        <p:spPr>
          <a:xfrm>
            <a:off x="1112800" y="2190000"/>
            <a:ext cx="9966400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VÉGPONT</a:t>
            </a:r>
            <a:endParaRPr lang="en-US" sz="1200" dirty="0"/>
          </a:p>
        </p:txBody>
      </p:sp>
      <p:sp>
        <p:nvSpPr>
          <p:cNvPr id="103" name="Vegpont"/>
          <p:cNvSpPr/>
          <p:nvPr/>
        </p:nvSpPr>
        <p:spPr>
          <a:xfrm>
            <a:off x="1112800" y="2480000"/>
            <a:ext cx="9966400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/api/Package/track?trackingNumber={azonosító}</a:t>
            </a:r>
            <a:endParaRPr lang="en-US" sz="2400" dirty="0"/>
          </a:p>
        </p:txBody>
      </p:sp>
      <p:sp>
        <p:nvSpPr>
          <p:cNvPr id="104" name="Vegpont megjegyzes"/>
          <p:cNvSpPr/>
          <p:nvPr/>
        </p:nvSpPr>
        <p:spPr>
          <a:xfrm>
            <a:off x="1112800" y="2960000"/>
            <a:ext cx="9966400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Bejelentkezés nélkül hívható, tokent sem küld a felület.</a:t>
            </a:r>
            <a:endParaRPr lang="en-US" sz="1300" dirty="0"/>
          </a:p>
        </p:txBody>
      </p:sp>
      <p:sp>
        <p:nvSpPr>
          <p:cNvPr id="105" name="Kartya 0"/>
          <p:cNvSpPr/>
          <p:nvPr/>
        </p:nvSpPr>
        <p:spPr>
          <a:xfrm>
            <a:off x="812800" y="3560000"/>
            <a:ext cx="5133200" cy="1550000"/>
          </a:xfrm>
          <a:prstGeom prst="roundRect">
            <a:avLst>
              <a:gd name="adj" fmla="val 520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6" name="Kartya cim 0"/>
          <p:cNvSpPr/>
          <p:nvPr/>
        </p:nvSpPr>
        <p:spPr>
          <a:xfrm>
            <a:off x="1092800" y="3820000"/>
            <a:ext cx="457320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Ezt bárki láthatja</a:t>
            </a:r>
            <a:endParaRPr lang="en-US" sz="1800" dirty="0"/>
          </a:p>
        </p:txBody>
      </p:sp>
      <p:sp>
        <p:nvSpPr>
          <p:cNvPr id="107" name="Kartya szoveg 0"/>
          <p:cNvSpPr/>
          <p:nvPr/>
        </p:nvSpPr>
        <p:spPr>
          <a:xfrm>
            <a:off x="1092800" y="4260000"/>
            <a:ext cx="457320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Csomagazonosító, aktuális állapot, az összes korábbi állapot időponttal</a:t>
            </a:r>
            <a:endParaRPr lang="en-US" sz="1500" dirty="0"/>
          </a:p>
        </p:txBody>
      </p:sp>
      <p:sp>
        <p:nvSpPr>
          <p:cNvPr id="108" name="Kartya 1"/>
          <p:cNvSpPr/>
          <p:nvPr/>
        </p:nvSpPr>
        <p:spPr>
          <a:xfrm>
            <a:off x="6246000" y="3560000"/>
            <a:ext cx="5133200" cy="1550000"/>
          </a:xfrm>
          <a:prstGeom prst="roundRect">
            <a:avLst>
              <a:gd name="adj" fmla="val 520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9" name="Kartya cim 1"/>
          <p:cNvSpPr/>
          <p:nvPr/>
        </p:nvSpPr>
        <p:spPr>
          <a:xfrm>
            <a:off x="6526000" y="3820000"/>
            <a:ext cx="457320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Ezt senki nem látja</a:t>
            </a:r>
            <a:endParaRPr lang="en-US" sz="1800" dirty="0"/>
          </a:p>
        </p:txBody>
      </p:sp>
      <p:sp>
        <p:nvSpPr>
          <p:cNvPr id="110" name="Kartya szoveg 1"/>
          <p:cNvSpPr/>
          <p:nvPr/>
        </p:nvSpPr>
        <p:spPr>
          <a:xfrm>
            <a:off x="6526000" y="4260000"/>
            <a:ext cx="457320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Feladó és címzett neve, címe, telefonszáma, e-mail címe</a:t>
            </a:r>
            <a:endParaRPr lang="en-US" sz="1500" dirty="0"/>
          </a:p>
        </p:txBody>
      </p:sp>
      <p:sp>
        <p:nvSpPr>
          <p:cNvPr id="111" name="Kiemeles"/>
          <p:cNvSpPr/>
          <p:nvPr/>
        </p:nvSpPr>
        <p:spPr>
          <a:xfrm>
            <a:off x="812800" y="5380000"/>
            <a:ext cx="105664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Csak publikus adatok:</a:t>
            </a:r>
            <a:r>
              <a:rPr lang="en-US" sz="16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az azonosító birtokában bárki követheti a csomagot, ezért a válasz semmilyen személyes adatot nem tartalmaz.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0261015-1855-01.258690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24255" y="1681480"/>
            <a:ext cx="9337675" cy="462407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BEMUTATÓ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9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Csomagkövetés élőben</a:t>
            </a:r>
            <a:endParaRPr lang="en-US" sz="3600" dirty="0"/>
          </a:p>
        </p:txBody>
      </p:sp>
      <p:sp>
        <p:nvSpPr>
          <p:cNvPr id="41" name="Video tipp"/>
          <p:cNvSpPr/>
          <p:nvPr/>
        </p:nvSpPr>
        <p:spPr>
          <a:xfrm>
            <a:off x="2451000" y="4700000"/>
            <a:ext cx="729000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68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MEGVALÓSÍTÁS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 változott a kódban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19573" y="1967655"/>
          <a:ext cx="10559627" cy="2661073"/>
        </p:xfrm>
        <a:graphic>
          <a:graphicData uri="http://schemas.openxmlformats.org/drawingml/2006/table">
            <a:tbl>
              <a:tblPr/>
              <a:tblGrid>
                <a:gridCol w="3167888"/>
                <a:gridCol w="7391739"/>
              </a:tblGrid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Elem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Változás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PackageController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Előjegyzés (POST), követés teljes állapotelőzménnyel (GET track)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UserController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Saját adatok lekérése (GET /api/User/{id}), védett végpontok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PackageBooking migráció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Egyedi index a csomagazonosítón, a séma bővítése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Kezdőlap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Követés idővonallal, belépés, </a:t>
                      </a:r>
                      <a:r>
                        <a:rPr lang="hu-HU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egyéb információk</a:t>
                      </a:r>
                      <a:endParaRPr lang="hu-HU" sz="1400" dirty="0">
                        <a:solidFill>
                          <a:srgbClr val="14213D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StatusTimeline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 állapot saját ikonnal, animált betöltés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PackageForm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Háromoszlopos űrlap, </a:t>
                      </a:r>
                      <a:r>
                        <a:rPr lang="hu-HU" alt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előre kitöltött </a:t>
                      </a: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feladói adatok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TESZTELÉS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Automatikus tesztek a fő esetekre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60"/>
            <a:ext cx="6115368" cy="2758017"/>
          </a:xfrm>
          <a:prstGeom prst="roundRect">
            <a:avLst>
              <a:gd name="adj" fmla="val 356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573" y="2221657"/>
            <a:ext cx="5768176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 · xUnit</a:t>
            </a:r>
            <a:endParaRPr lang="en-US" sz="180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26420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3985" y="2623185"/>
            <a:ext cx="5437505" cy="3028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1500" dirty="0"/>
              <a:t>Vendég- és bejelentkezett feladás, első előzmény</a:t>
            </a:r>
            <a:endParaRPr lang="en-US" sz="15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0357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3773" y="3016678"/>
            <a:ext cx="458609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Belső mezők (állapot, azonosító) nem állíthatók</a:t>
            </a:r>
            <a:endParaRPr lang="en-US" sz="15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429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3773" y="3410378"/>
            <a:ext cx="38199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Hibás adat nem kerül az adatbázisba</a:t>
            </a:r>
            <a:endParaRPr lang="en-US" sz="15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82312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03773" y="3804078"/>
            <a:ext cx="4446143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Követés teljes előzménnyel, csak publikus mezők</a:t>
            </a:r>
            <a:endParaRPr lang="en-US" sz="1500" dirty="0"/>
          </a:p>
        </p:txBody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42168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03773" y="4197778"/>
            <a:ext cx="4522724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Védett végpontok: token nélkül 401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7137718" y="1960885"/>
            <a:ext cx="4241483" cy="2764367"/>
          </a:xfrm>
          <a:prstGeom prst="roundRect">
            <a:avLst>
              <a:gd name="adj" fmla="val 3675"/>
            </a:avLst>
          </a:prstGeom>
          <a:solidFill>
            <a:srgbClr val="14213D"/>
          </a:solidFill>
        </p:spPr>
      </p:sp>
      <p:sp>
        <p:nvSpPr>
          <p:cNvPr id="17" name="Text 10"/>
          <p:cNvSpPr/>
          <p:nvPr/>
        </p:nvSpPr>
        <p:spPr>
          <a:xfrm>
            <a:off x="7391718" y="2214885"/>
            <a:ext cx="3845487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 · Vitest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391718" y="26162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Feladás, elő</a:t>
            </a:r>
            <a:r>
              <a:rPr lang="hu-HU" alt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 ki</a:t>
            </a: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töltés bejelentkezve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391718" y="30099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Idővonal és hibák a kezdőlapon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391718" y="34036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Kezdőlap vendégként és belépve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91718" y="4257892"/>
            <a:ext cx="384548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41 backend és 20 frontend teszt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12800" y="5080850"/>
            <a:ext cx="10883393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Kipróbálva:</a:t>
            </a: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böngészőben végigkattintva: regisztráció, belépés, előtöltött feladás, azonosító másolása, követés, kilépés.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JELENLEGI ÁLLAPOT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vendég funkciói elkészültek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60"/>
            <a:ext cx="6115368" cy="2758017"/>
          </a:xfrm>
          <a:prstGeom prst="roundRect">
            <a:avLst>
              <a:gd name="adj" fmla="val 356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573" y="2221657"/>
            <a:ext cx="5768176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Elkészült</a:t>
            </a:r>
            <a:endParaRPr lang="en-US" sz="180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26420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3985" y="2623185"/>
            <a:ext cx="5437505" cy="3028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1500" dirty="0"/>
              <a:t>Csomag előjegyzése, belépve</a:t>
            </a:r>
            <a:r>
              <a:rPr lang="hu-HU" altLang="en-US" sz="1500" dirty="0"/>
              <a:t> feladó</a:t>
            </a:r>
            <a:r>
              <a:rPr lang="en-US" altLang="en-US" sz="1500" dirty="0"/>
              <a:t> elő</a:t>
            </a:r>
            <a:r>
              <a:rPr lang="hu-HU" altLang="en-US" sz="1500" dirty="0"/>
              <a:t>re ki</a:t>
            </a:r>
            <a:r>
              <a:rPr lang="en-US" altLang="en-US" sz="1500" dirty="0"/>
              <a:t>töltve</a:t>
            </a:r>
            <a:endParaRPr lang="en-US" sz="15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0357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3773" y="3016678"/>
            <a:ext cx="458609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Egyedi csomagazonosító generálása</a:t>
            </a:r>
            <a:endParaRPr lang="en-US" sz="15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429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3773" y="3410378"/>
            <a:ext cx="38199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Nyilvános követés idővonallal</a:t>
            </a:r>
            <a:endParaRPr lang="en-US" sz="15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82312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03773" y="3804078"/>
            <a:ext cx="4446143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Új kezdőlap: követés és belépés</a:t>
            </a:r>
            <a:endParaRPr lang="en-US" sz="1500" dirty="0"/>
          </a:p>
        </p:txBody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42168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03773" y="4197778"/>
            <a:ext cx="4522724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Dolgozat: bevezetés megírva (6 oldal)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7137718" y="1960885"/>
            <a:ext cx="4241483" cy="2764367"/>
          </a:xfrm>
          <a:prstGeom prst="roundRect">
            <a:avLst>
              <a:gd name="adj" fmla="val 3675"/>
            </a:avLst>
          </a:prstGeom>
          <a:solidFill>
            <a:srgbClr val="14213D"/>
          </a:solidFill>
        </p:spPr>
      </p:sp>
      <p:sp>
        <p:nvSpPr>
          <p:cNvPr id="17" name="Text 10"/>
          <p:cNvSpPr/>
          <p:nvPr/>
        </p:nvSpPr>
        <p:spPr>
          <a:xfrm>
            <a:off x="7391718" y="2214885"/>
            <a:ext cx="3845487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Következik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391718" y="26162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Raktáros: csomagok bevételezése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391718" y="30099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és kiszállítás kiosztása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391718" y="34036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Felhasználó csomaglistái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91718" y="4257892"/>
            <a:ext cx="384548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Cél: 10.30., 3. beszámoló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12800" y="5080850"/>
            <a:ext cx="10883393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Dolgozat:</a:t>
            </a: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 bevezetés után a rendszerterv és az adatmodell leírása következik.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1" y="6238236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ÜTEMEZÉS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58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Minden beszámolóra egy szereplő funkciói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911350"/>
            <a:ext cx="2000779" cy="3576320"/>
          </a:xfrm>
          <a:prstGeom prst="roundRect">
            <a:avLst>
              <a:gd name="adj" fmla="val 5078"/>
            </a:avLst>
          </a:prstGeom>
          <a:solidFill>
            <a:srgbClr val="14213D"/>
          </a:solidFill>
        </p:spPr>
      </p:sp>
      <p:sp>
        <p:nvSpPr>
          <p:cNvPr id="6" name="Text 4"/>
          <p:cNvSpPr/>
          <p:nvPr/>
        </p:nvSpPr>
        <p:spPr>
          <a:xfrm>
            <a:off x="990600" y="2089150"/>
            <a:ext cx="1695979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10.02.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600" y="2569208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beszámoló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871465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2106" y="3135629"/>
            <a:ext cx="1584473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Specifikáció, architektúra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Adatmodell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Regisztráció, bejelentkezés (kész)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0600" y="4512940"/>
            <a:ext cx="1645179" cy="0"/>
          </a:xfrm>
          <a:prstGeom prst="line">
            <a:avLst/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4605443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2106" y="4869600"/>
            <a:ext cx="158447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Specifikáció (kész)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3754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14213D"/>
          </a:solidFill>
        </p:spPr>
      </p:sp>
      <p:sp>
        <p:nvSpPr>
          <p:cNvPr id="14" name="Text 12"/>
          <p:cNvSpPr/>
          <p:nvPr/>
        </p:nvSpPr>
        <p:spPr>
          <a:xfrm>
            <a:off x="3125153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hu-HU" altLang="en-US" sz="2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</a:t>
            </a:r>
            <a:r>
              <a:rPr lang="en-US" sz="2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25153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hu-HU" altLang="en-US" sz="1200" b="1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200" b="1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beszámoló</a:t>
            </a:r>
            <a:endParaRPr lang="hu-HU" altLang="en-US" sz="1200" b="1" dirty="0">
              <a:solidFill>
                <a:srgbClr val="C9D3E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25153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6659" y="3142400"/>
            <a:ext cx="1584579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</a:t>
            </a:r>
            <a:endParaRPr lang="en-US" sz="1200" dirty="0">
              <a:solidFill>
                <a:schemeClr val="bg1"/>
              </a:solidFill>
            </a:endParaRPr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Csomagazonosító</a:t>
            </a:r>
            <a:endParaRPr lang="en-US" sz="1200" dirty="0">
              <a:solidFill>
                <a:schemeClr val="bg1"/>
              </a:solidFill>
            </a:endParaRPr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Nyilvános követés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25153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5153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36659" y="4876372"/>
            <a:ext cx="1584579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Bevezetés (kész)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85186" y="1914525"/>
            <a:ext cx="2007976" cy="3569970"/>
          </a:xfrm>
          <a:prstGeom prst="roundRect">
            <a:avLst>
              <a:gd name="adj" fmla="val 490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584" y="2095922"/>
            <a:ext cx="1695979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10.30.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66584" y="2575979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beszámoló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6584" y="2878243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78090" y="3142400"/>
            <a:ext cx="1584473" cy="1305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Raktáros: bevételezés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és kiszállítás kiosztása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Felhasználó csomaglistái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66584" y="4519718"/>
            <a:ext cx="1645179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584" y="4612215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8090" y="4876372"/>
            <a:ext cx="158447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Rendszerterv, adatmodell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6512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7911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11.20.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07911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beszámoló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7911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19417" y="3142400"/>
            <a:ext cx="1584579" cy="1305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Futár: feladatok, státuszok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Előzmények, módosítás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Admin: kezelés, átrendelés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7911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7911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19417" y="4876372"/>
            <a:ext cx="15845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Megvalósítás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367944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49342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12.11.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549342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beszámoló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49342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60848" y="3142400"/>
            <a:ext cx="1584579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Statisztikák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Tesztelés, hibajavítás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Bemutató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49342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9342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60848" y="4876372"/>
            <a:ext cx="15845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Végleges leadás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79315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0A35E"/>
          </a:solidFill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509515"/>
            <a:ext cx="10883393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Köszönjük a figyelmet!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63615"/>
            <a:ext cx="10883393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208779"/>
            <a:ext cx="10883393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02679"/>
            <a:ext cx="7848601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GitHub: </a:t>
            </a:r>
            <a:r>
              <a:rPr lang="en-US" sz="1400" u="sng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github.com/Mia2013/csomagkezelo-rendszer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1381" y="6238236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Csomagkezelő rendszer – 1. beszámoló">
  <a:themeElements>
    <a:clrScheme name="Csomagkezelő rendszer – 1. beszámoló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B5541A"/>
      </a:accent1>
      <a:accent2>
        <a:srgbClr val="F0A35E"/>
      </a:accent2>
      <a:accent3>
        <a:srgbClr val="4A5568"/>
      </a:accent3>
      <a:accent4>
        <a:srgbClr val="C9D3E3"/>
      </a:accent4>
      <a:accent5>
        <a:srgbClr val="5E6573"/>
      </a:accent5>
      <a:accent6>
        <a:srgbClr val="535A68"/>
      </a:accent6>
      <a:hlink>
        <a:srgbClr val="0563C1"/>
      </a:hlink>
      <a:folHlink>
        <a:srgbClr val="954F72"/>
      </a:folHlink>
    </a:clrScheme>
    <a:fontScheme name="Csomagkezelő rendszer – 1. beszámoló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somagkezelő rendszer – 1. beszámoló">
  <a:themeElements>
    <a:clrScheme name="Csomagkezelő rendszer – 1. beszámoló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B5541A"/>
      </a:accent1>
      <a:accent2>
        <a:srgbClr val="F0A35E"/>
      </a:accent2>
      <a:accent3>
        <a:srgbClr val="4A5568"/>
      </a:accent3>
      <a:accent4>
        <a:srgbClr val="C9D3E3"/>
      </a:accent4>
      <a:accent5>
        <a:srgbClr val="5E6573"/>
      </a:accent5>
      <a:accent6>
        <a:srgbClr val="535A68"/>
      </a:accent6>
      <a:hlink>
        <a:srgbClr val="0563C1"/>
      </a:hlink>
      <a:folHlink>
        <a:srgbClr val="954F72"/>
      </a:folHlink>
    </a:clrScheme>
    <a:fontScheme name="Csomagkezelő rendszer – 1. beszámoló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somagkezelő rendszer – 1. beszámoló">
    <a:dk1>
      <a:srgbClr val="14213D"/>
    </a:dk1>
    <a:lt1>
      <a:srgbClr val="F6F5F1"/>
    </a:lt1>
    <a:dk2>
      <a:srgbClr val="4D566A"/>
    </a:dk2>
    <a:lt2>
      <a:srgbClr val="DFE0DF"/>
    </a:lt2>
    <a:accent1>
      <a:srgbClr val="B5541A"/>
    </a:accent1>
    <a:accent2>
      <a:srgbClr val="F0A35E"/>
    </a:accent2>
    <a:accent3>
      <a:srgbClr val="4A5568"/>
    </a:accent3>
    <a:accent4>
      <a:srgbClr val="C9D3E3"/>
    </a:accent4>
    <a:accent5>
      <a:srgbClr val="5E6573"/>
    </a:accent5>
    <a:accent6>
      <a:srgbClr val="535A68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4025</Words>
  <Application>WPS Presentation</Application>
  <PresentationFormat>On-screen Show (16:9)</PresentationFormat>
  <Paragraphs>286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</vt:lpstr>
      <vt:lpstr>Microsoft YaHei</vt:lpstr>
      <vt:lpstr>Arial Unicode MS</vt:lpstr>
      <vt:lpstr>Calibri</vt:lpstr>
      <vt:lpstr>Csomagkezelő rendszer – 1. beszámoló</vt:lpstr>
      <vt:lpstr>Csomagkezelő rendszer</vt:lpstr>
      <vt:lpstr>Elindulhat a csomag útja</vt:lpstr>
      <vt:lpstr>Feladás regisztrációval és nélküle is</vt:lpstr>
      <vt:lpstr>Csomag előjegyzése élőben</vt:lpstr>
      <vt:lpstr>Azonosítóval bárki követheti a csomagot</vt:lpstr>
      <vt:lpstr>Csomagkövetés élőben</vt:lpstr>
      <vt:lpstr>Mi változott a kódban</vt:lpstr>
      <vt:lpstr>Automatikus tesztek a fő esetekre</vt:lpstr>
      <vt:lpstr>A vendég funkciói elkészültek</vt:lpstr>
      <vt:lpstr>Minden beszámolóra egy szereplő funkciói</vt:lpstr>
      <vt:lpstr>Köszönjük a figyelmet!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Csomagkezelő rendszer – 1. beszámoló</dc:title>
  <dc:creator/>
  <cp:lastModifiedBy>Blaaa Blabla</cp:lastModifiedBy>
  <cp:revision>14</cp:revision>
  <dcterms:created xsi:type="dcterms:W3CDTF">2026-10-01T13:38:00Z</dcterms:created>
  <dcterms:modified xsi:type="dcterms:W3CDTF">2026-10-15T20:02:24Z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527BCFE2EBD44C35A39F7976F9391348_12</vt:lpwstr>
  </property>
</Properties>
</file>