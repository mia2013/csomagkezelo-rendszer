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57" r:id="rId7"/>
    <p:sldId id="263" r:id="rId8"/>
    <p:sldId id="260" r:id="rId9"/>
    <p:sldId id="262" r:id="rId10"/>
    <p:sldId id="261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1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910081"/>
            <a:ext cx="10566400" cy="41351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93421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0A35E"/>
          </a:solidFill>
        </p:spPr>
      </p:sp>
      <p:sp>
        <p:nvSpPr>
          <p:cNvPr id="3" name="Text 1"/>
          <p:cNvSpPr/>
          <p:nvPr/>
        </p:nvSpPr>
        <p:spPr>
          <a:xfrm>
            <a:off x="812800" y="2264410"/>
            <a:ext cx="10883393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PROJEKT LABOR · 1. BESZÁMOLÓ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767330"/>
            <a:ext cx="10883393" cy="878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Csomagkezelő rendszer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12800" y="3874770"/>
            <a:ext cx="9906001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Webes nyomkövető és kezelő rendszer egy regionális futárcég számára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4471670"/>
            <a:ext cx="10883393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ASP.NET Core Web API · React · SQL Server · JWT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6202680"/>
            <a:ext cx="7848601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csoport (Budavári Nikolett, Ónodi Norbert, Restás László)                            2026. október 2.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1381" y="6238240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/ 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VÁLASZTOTT TECHNOLÓGIÁK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C# backend, React frontend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3255"/>
            <a:ext cx="3414183" cy="1561677"/>
          </a:xfrm>
          <a:prstGeom prst="roundRect">
            <a:avLst>
              <a:gd name="adj" fmla="val 6303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173" y="2145454"/>
            <a:ext cx="303828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8173" y="2495975"/>
            <a:ext cx="3038280" cy="52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C#, ASP.NET Core Web API, .NET 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8908" y="1913255"/>
            <a:ext cx="3414183" cy="1561677"/>
          </a:xfrm>
          <a:prstGeom prst="roundRect">
            <a:avLst>
              <a:gd name="adj" fmla="val 6303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1107" y="2145454"/>
            <a:ext cx="303828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Adatbázis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21107" y="2495975"/>
            <a:ext cx="3038280" cy="52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Server, Entity Framework Core, code-first migrációk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61842" y="1913255"/>
            <a:ext cx="3414183" cy="1561677"/>
          </a:xfrm>
          <a:prstGeom prst="roundRect">
            <a:avLst>
              <a:gd name="adj" fmla="val 6303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4040" y="2145454"/>
            <a:ext cx="303828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Hitelesítés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94040" y="2495975"/>
            <a:ext cx="3038280" cy="772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ASP.NET Core Identity jelszó-hash, JWT token, szerepkör alapú jogosultság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975" y="3633682"/>
            <a:ext cx="3414183" cy="1312757"/>
          </a:xfrm>
          <a:prstGeom prst="roundRect">
            <a:avLst>
              <a:gd name="adj" fmla="val 7498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8173" y="3865880"/>
            <a:ext cx="303828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8173" y="4216402"/>
            <a:ext cx="30382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+ Vite, React Router, Axios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8908" y="3633682"/>
            <a:ext cx="3414183" cy="1312757"/>
          </a:xfrm>
          <a:prstGeom prst="roundRect">
            <a:avLst>
              <a:gd name="adj" fmla="val 7498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1107" y="3865880"/>
            <a:ext cx="303828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Felület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21107" y="4216402"/>
            <a:ext cx="3038280" cy="52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Material UI komponensek, reszponzív elrendezés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61842" y="3633682"/>
            <a:ext cx="3414183" cy="1312757"/>
          </a:xfrm>
          <a:prstGeom prst="roundRect">
            <a:avLst>
              <a:gd name="adj" fmla="val 7498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4040" y="3865880"/>
            <a:ext cx="303828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Csapatmunka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94040" y="4216402"/>
            <a:ext cx="3038280" cy="52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 és GitHub, feature branchek, pull requestek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5337387"/>
            <a:ext cx="959697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Eszközök: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75672" y="5257589"/>
            <a:ext cx="1405361" cy="390737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Visual Studio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9783" y="5257589"/>
            <a:ext cx="1041612" cy="390737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VS Code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40145" y="5257589"/>
            <a:ext cx="1059815" cy="390737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58709" y="5257589"/>
            <a:ext cx="711306" cy="390737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npm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8765" y="5257589"/>
            <a:ext cx="912918" cy="390737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1381" y="6238241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RENDSZERARCHITEKTÚRA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9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Háromrétegű kliens–szerver felépítés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4055"/>
            <a:ext cx="2944495" cy="1889337"/>
          </a:xfrm>
          <a:prstGeom prst="roundRect">
            <a:avLst>
              <a:gd name="adj" fmla="val 5209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5" name="Image 0" descr="Glob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48173" y="2196254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8173" y="2577254"/>
            <a:ext cx="2554501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kliens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8173" y="2927773"/>
            <a:ext cx="2554501" cy="7188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Oldalak és menük szerepkör szerint, a token a böngészőben tárolva</a:t>
            </a:r>
            <a:endParaRPr lang="en-US" sz="130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16045" y="2756323"/>
            <a:ext cx="558800" cy="30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27245" y="1960880"/>
            <a:ext cx="2937404" cy="1895687"/>
          </a:xfrm>
          <a:prstGeom prst="roundRect">
            <a:avLst>
              <a:gd name="adj" fmla="val 5360"/>
            </a:avLst>
          </a:prstGeom>
          <a:solidFill>
            <a:srgbClr val="14213D"/>
          </a:solidFill>
        </p:spPr>
      </p:sp>
      <p:pic>
        <p:nvPicPr>
          <p:cNvPr id="10" name="Image 2" descr="Cod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55845" y="2189480"/>
            <a:ext cx="304800" cy="304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5845" y="2570480"/>
            <a:ext cx="255461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ASP.NET Core API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4855845" y="2921000"/>
            <a:ext cx="2554610" cy="7188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 végpontok, token-ellenőrzés, jogosultság, üzleti logika</a:t>
            </a:r>
            <a:endParaRPr lang="en-US" sz="1300" dirty="0"/>
          </a:p>
        </p:txBody>
      </p:sp>
      <p:pic>
        <p:nvPicPr>
          <p:cNvPr id="13" name="Image 3" descr="arrow-right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17050" y="2756323"/>
            <a:ext cx="558800" cy="3048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431425" y="1964055"/>
            <a:ext cx="2944601" cy="1889337"/>
          </a:xfrm>
          <a:prstGeom prst="roundRect">
            <a:avLst>
              <a:gd name="adj" fmla="val 5209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15" name="Image 4" descr="Database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63623" y="2196254"/>
            <a:ext cx="304800" cy="304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63623" y="2577254"/>
            <a:ext cx="255461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8663623" y="2927773"/>
            <a:ext cx="255461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EF Core-on keresztül elérve, migrációkkal verziózott séma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815975" y="4215341"/>
            <a:ext cx="2401888" cy="416137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HTTPS · JSON · REST API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3376613" y="4215341"/>
            <a:ext cx="2637473" cy="416137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Authorization: Bearer &lt;JWT&gt;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172835" y="4215341"/>
            <a:ext cx="3270568" cy="416137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/api/Auth · /api/User · /api/Package …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812800" y="4990254"/>
            <a:ext cx="10464801" cy="52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Bejelentkezés menete:</a:t>
            </a: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 kliens elküldi a felhasználónevet és a jelszót, a backend JWT tokent ad vissza, a kliens ezt minden további kérésnél elküldi, a backend pedig ellenőr</a:t>
            </a:r>
            <a:r>
              <a:rPr lang="hu-HU" alt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izni fogja </a:t>
            </a: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az aláírást, a lejáratot és a szerepkört.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501381" y="6238241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35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r>
              <a:rPr lang="en-US" sz="1200" dirty="0">
                <a:solidFill>
                  <a:srgbClr val="535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1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FELADAT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csomag teljes útja egy rendszerben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60880"/>
            <a:ext cx="9810751" cy="10198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Egy kisebb futárcég saját futárokkal és egy központi elosztó raktárral dolgozik. A rendszer az előjegyzéstől a kézbesítésig követi a csomagot. Vendégként, regisztráció nélkül is lehet csomagot feladni és követni.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5975" y="3314065"/>
            <a:ext cx="1985010" cy="1835997"/>
          </a:xfrm>
          <a:prstGeom prst="roundRect">
            <a:avLst>
              <a:gd name="adj" fmla="val 536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6" name="Image 0" descr="Glob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22773" y="3520864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2773" y="3927264"/>
            <a:ext cx="162221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Vendég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2773" y="4272704"/>
            <a:ext cx="162221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Előjegyez, és azonosítóval követ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59735" y="3314065"/>
            <a:ext cx="1985010" cy="1835997"/>
          </a:xfrm>
          <a:prstGeom prst="roundRect">
            <a:avLst>
              <a:gd name="adj" fmla="val 536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10" name="Image 1" descr="Key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166533" y="3520864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66533" y="3927264"/>
            <a:ext cx="1622213" cy="513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Regisztrált felhasználó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166533" y="4516544"/>
            <a:ext cx="162221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Látja saját csomagjait és előzményeit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103495" y="3314065"/>
            <a:ext cx="1985010" cy="1835997"/>
          </a:xfrm>
          <a:prstGeom prst="roundRect">
            <a:avLst>
              <a:gd name="adj" fmla="val 536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14" name="Image 2" descr="PaperPlan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10294" y="3520864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10294" y="3927264"/>
            <a:ext cx="162221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Futár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310294" y="4272704"/>
            <a:ext cx="162221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Felveszi és kézbesíti a csomagokat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247255" y="3314065"/>
            <a:ext cx="1985010" cy="1835997"/>
          </a:xfrm>
          <a:prstGeom prst="roundRect">
            <a:avLst>
              <a:gd name="adj" fmla="val 536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18" name="Image 3" descr="Database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54054" y="3520864"/>
            <a:ext cx="304800" cy="304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4054" y="3927264"/>
            <a:ext cx="162221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Raktáros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454054" y="4272704"/>
            <a:ext cx="162221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Bevételez, és feladatot oszt ki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391015" y="3314065"/>
            <a:ext cx="1985010" cy="1835997"/>
          </a:xfrm>
          <a:prstGeom prst="roundRect">
            <a:avLst>
              <a:gd name="adj" fmla="val 536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22" name="Image 4" descr="Settings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597814" y="3520864"/>
            <a:ext cx="304800" cy="304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97814" y="3927264"/>
            <a:ext cx="1622213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597814" y="4272704"/>
            <a:ext cx="162221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Mindent lát, kezel és átrendel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501381" y="6238241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MEGVALÓSÍTANDÓ FUNKCIÓK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Minden szereplő a saját feladatait látja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62454"/>
            <a:ext cx="3414183" cy="1749637"/>
          </a:xfrm>
          <a:prstGeom prst="roundRect">
            <a:avLst>
              <a:gd name="adj" fmla="val 5625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773" y="2043854"/>
            <a:ext cx="309060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Vendég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4279" y="2363893"/>
            <a:ext cx="2971478" cy="66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 előjegyzése, címke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Követés csomagazonosítóval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Regisztráció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8908" y="1862454"/>
            <a:ext cx="3414183" cy="1749637"/>
          </a:xfrm>
          <a:prstGeom prst="roundRect">
            <a:avLst>
              <a:gd name="adj" fmla="val 5625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5707" y="2043854"/>
            <a:ext cx="309060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Regisztrált felhasználó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7213" y="2363893"/>
            <a:ext cx="2971478" cy="1092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Be- és kijelentkezés (JWT)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Feladott és érkező csomagok, előzmények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Előjegyzés módosítása a felvétel előtti napig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61842" y="1862454"/>
            <a:ext cx="3414183" cy="1749637"/>
          </a:xfrm>
          <a:prstGeom prst="roundRect">
            <a:avLst>
              <a:gd name="adj" fmla="val 5625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8640" y="2043854"/>
            <a:ext cx="309060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Futár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80146" y="2363893"/>
            <a:ext cx="2971478" cy="878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Napi feladatlista: felvétel és kiszállítás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Felvétel és kézbesítés rögzítése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ClrTx/>
              <a:buSzTx/>
              <a:buFontTx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</a:t>
            </a:r>
            <a:r>
              <a:rPr lang="hu-HU" alt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</a:t>
            </a: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át szállítási előzmények napi, heti, havi bontásban</a:t>
            </a:r>
            <a:endParaRPr lang="en-US" sz="1200" dirty="0">
              <a:solidFill>
                <a:srgbClr val="4A556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5975" y="3770843"/>
            <a:ext cx="3414183" cy="1322917"/>
          </a:xfrm>
          <a:prstGeom prst="roundRect">
            <a:avLst>
              <a:gd name="adj" fmla="val 744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2773" y="3952239"/>
            <a:ext cx="309060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Raktáros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4279" y="4272282"/>
            <a:ext cx="2971478" cy="66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Beérkező csomagok bevételezése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Felvétel és kiszállítás kiosztása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Raktári és futárnál lévő csomagok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8908" y="3770843"/>
            <a:ext cx="3414183" cy="1322917"/>
          </a:xfrm>
          <a:prstGeom prst="roundRect">
            <a:avLst>
              <a:gd name="adj" fmla="val 7440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5707" y="3952239"/>
            <a:ext cx="309060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Adminisztrátor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7213" y="4272282"/>
            <a:ext cx="2971478" cy="66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Felhasználók és csomagok kezelése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Feladatok átrendelése bármikor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Statisztikák: kihasználtság, forgalom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1381" y="6238239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25000"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hu-HU" altLang="en-US" sz="1200" dirty="0">
              <a:solidFill>
                <a:srgbClr val="5E657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  <p:sp>
        <p:nvSpPr>
          <p:cNvPr id="20" name="Text 2"/>
          <p:cNvSpPr/>
          <p:nvPr/>
        </p:nvSpPr>
        <p:spPr>
          <a:xfrm>
            <a:off x="8628381" y="6365242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ADATMODELL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Hat entitás köré épül a rendszer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819573" y="1967655"/>
          <a:ext cx="10559627" cy="2661073"/>
        </p:xfrm>
        <a:graphic>
          <a:graphicData uri="http://schemas.openxmlformats.org/drawingml/2006/table">
            <a:tbl>
              <a:tblPr/>
              <a:tblGrid>
                <a:gridCol w="3167888"/>
                <a:gridCol w="7391739"/>
              </a:tblGrid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F1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Entitás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F1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Szerepe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User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Felhasználó egyetlen szerepkörrel: ügyfél, futár, raktáros, admin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Package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Csomag: azonosító, méret, felvételi nap és idősáv, feladó, címzett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CourierTask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Futárfeladat: felvétel vagy kiszállítás, akár más-más futárral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PackageStatusHistory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Állapotváltások időbélyeggel, ebből jön a követés és a statisztika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WarehouseLog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 raktár napi telítettsége a kihasználtsági statisztikához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153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ShippingFee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Szállítási díj méret </a:t>
                      </a:r>
                      <a:r>
                        <a:rPr lang="hu-HU" alt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és súly </a:t>
                      </a: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szerint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3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501381" y="6238242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CSOMAG ÉLETCIKLUSA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Hét állapot az előjegyzéstől a kézbesítésig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3254"/>
            <a:ext cx="3143250" cy="1134957"/>
          </a:xfrm>
          <a:prstGeom prst="roundRect">
            <a:avLst>
              <a:gd name="adj" fmla="val 8672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7373" y="2094654"/>
            <a:ext cx="2863867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7373" y="2358811"/>
            <a:ext cx="2863867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Előjegyezve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7373" y="2653454"/>
            <a:ext cx="2863867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PreBooked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064000" y="2379132"/>
            <a:ext cx="355600" cy="20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4375" y="1913254"/>
            <a:ext cx="3143250" cy="1134957"/>
          </a:xfrm>
          <a:prstGeom prst="roundRect">
            <a:avLst>
              <a:gd name="adj" fmla="val 8672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5774" y="2094654"/>
            <a:ext cx="2863867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05774" y="2358811"/>
            <a:ext cx="2863867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Felvétel kiosztva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05774" y="2653454"/>
            <a:ext cx="2863867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PickupAssigned</a:t>
            </a:r>
            <a:endParaRPr lang="en-US" sz="12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772401" y="2379132"/>
            <a:ext cx="355600" cy="20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32776" y="1913254"/>
            <a:ext cx="3143250" cy="1134957"/>
          </a:xfrm>
          <a:prstGeom prst="roundRect">
            <a:avLst>
              <a:gd name="adj" fmla="val 8672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14174" y="2094654"/>
            <a:ext cx="2863867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414174" y="2358811"/>
            <a:ext cx="2863867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Beszállítás alatt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414174" y="2653454"/>
            <a:ext cx="2863867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InTransitToWarehouse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5975" y="3359361"/>
            <a:ext cx="3147695" cy="1134957"/>
          </a:xfrm>
          <a:prstGeom prst="roundRect">
            <a:avLst>
              <a:gd name="adj" fmla="val 8672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97373" y="3540761"/>
            <a:ext cx="286844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97373" y="3804918"/>
            <a:ext cx="2868445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Raktárban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997373" y="4099561"/>
            <a:ext cx="286844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AtWarehouse</a:t>
            </a:r>
            <a:endParaRPr lang="en-US" sz="1200" dirty="0"/>
          </a:p>
        </p:txBody>
      </p:sp>
      <p:pic>
        <p:nvPicPr>
          <p:cNvPr id="22" name="Image 2" descr="arrow-right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068445" y="3825239"/>
            <a:ext cx="355600" cy="2032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528820" y="3359361"/>
            <a:ext cx="3147801" cy="1134957"/>
          </a:xfrm>
          <a:prstGeom prst="roundRect">
            <a:avLst>
              <a:gd name="adj" fmla="val 8672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10219" y="3540761"/>
            <a:ext cx="2868554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710219" y="3804918"/>
            <a:ext cx="286855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Kiszállítás alatt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710219" y="4099561"/>
            <a:ext cx="2868554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OutForDelivery</a:t>
            </a:r>
            <a:endParaRPr lang="en-US" sz="1200" dirty="0"/>
          </a:p>
        </p:txBody>
      </p:sp>
      <p:pic>
        <p:nvPicPr>
          <p:cNvPr id="27" name="Image 3" descr="arrow-right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781396" y="3825239"/>
            <a:ext cx="355600" cy="2032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238596" y="3362961"/>
            <a:ext cx="3140604" cy="1127760"/>
          </a:xfrm>
          <a:prstGeom prst="roundRect">
            <a:avLst>
              <a:gd name="adj" fmla="val 9009"/>
            </a:avLst>
          </a:prstGeom>
          <a:solidFill>
            <a:srgbClr val="14213D"/>
          </a:solidFill>
        </p:spPr>
      </p:sp>
      <p:sp>
        <p:nvSpPr>
          <p:cNvPr id="29" name="Text 23"/>
          <p:cNvSpPr/>
          <p:nvPr/>
        </p:nvSpPr>
        <p:spPr>
          <a:xfrm>
            <a:off x="8416396" y="3540761"/>
            <a:ext cx="2868554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416396" y="3804918"/>
            <a:ext cx="286855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Kézbesítve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8416396" y="4099561"/>
            <a:ext cx="2868554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Delivered · végállapot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15975" y="4805468"/>
            <a:ext cx="10560051" cy="591397"/>
          </a:xfrm>
          <a:prstGeom prst="roundRect">
            <a:avLst>
              <a:gd name="adj" fmla="val 16643"/>
            </a:avLst>
          </a:prstGeom>
          <a:solidFill>
            <a:srgbClr val="FBEBDD"/>
          </a:solidFill>
          <a:ln w="6350">
            <a:solidFill>
              <a:srgbClr val="E9C3A1"/>
            </a:solidFill>
            <a:prstDash val="solid"/>
          </a:ln>
        </p:spPr>
      </p:sp>
      <p:pic>
        <p:nvPicPr>
          <p:cNvPr id="33" name="Image 4" descr="Warni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2773" y="4961465"/>
            <a:ext cx="279400" cy="2794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54573" y="4976707"/>
            <a:ext cx="934440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Sikertelen kézbesítés</a:t>
            </a:r>
            <a:r>
              <a:rPr lang="en-US" sz="14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(FailedDelivery): a csomag visszakerül a raktárba (4.), és újra kiosztható.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8501381" y="6238239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OSZTÁLYDIAGRAM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Kapcsolatok az osztályok között</a:t>
            </a:r>
            <a:endParaRPr lang="en-US" sz="3600" dirty="0"/>
          </a:p>
        </p:txBody>
      </p:sp>
      <p:pic>
        <p:nvPicPr>
          <p:cNvPr id="4" name="Image 0" descr="connector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59000" y="1892300"/>
            <a:ext cx="101600" cy="317500"/>
          </a:xfrm>
          <a:prstGeom prst="rect">
            <a:avLst/>
          </a:prstGeom>
        </p:spPr>
      </p:pic>
      <p:pic>
        <p:nvPicPr>
          <p:cNvPr id="5" name="Image 1" descr="connector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59000" y="1892300"/>
            <a:ext cx="7874001" cy="101600"/>
          </a:xfrm>
          <a:prstGeom prst="rect">
            <a:avLst/>
          </a:prstGeom>
        </p:spPr>
      </p:pic>
      <p:pic>
        <p:nvPicPr>
          <p:cNvPr id="6" name="Image 2" descr="connector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931401" y="1892300"/>
            <a:ext cx="101600" cy="317500"/>
          </a:xfrm>
          <a:prstGeom prst="rect">
            <a:avLst/>
          </a:prstGeom>
        </p:spPr>
      </p:pic>
      <p:pic>
        <p:nvPicPr>
          <p:cNvPr id="7" name="Image 3" descr="connector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0" y="2679700"/>
            <a:ext cx="1193800" cy="101600"/>
          </a:xfrm>
          <a:prstGeom prst="rect">
            <a:avLst/>
          </a:prstGeom>
        </p:spPr>
      </p:pic>
      <p:pic>
        <p:nvPicPr>
          <p:cNvPr id="8" name="Image 4" descr="connector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42201" y="2489200"/>
            <a:ext cx="1193800" cy="101600"/>
          </a:xfrm>
          <a:prstGeom prst="rect">
            <a:avLst/>
          </a:prstGeom>
        </p:spPr>
      </p:pic>
      <p:pic>
        <p:nvPicPr>
          <p:cNvPr id="9" name="Image 5" descr="connector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42201" y="2870200"/>
            <a:ext cx="1193800" cy="101600"/>
          </a:xfrm>
          <a:prstGeom prst="rect">
            <a:avLst/>
          </a:prstGeom>
        </p:spPr>
      </p:pic>
      <p:pic>
        <p:nvPicPr>
          <p:cNvPr id="10" name="Image 6" descr="connector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42201" y="3251200"/>
            <a:ext cx="1193800" cy="101600"/>
          </a:xfrm>
          <a:prstGeom prst="rect">
            <a:avLst/>
          </a:prstGeom>
        </p:spPr>
      </p:pic>
      <p:pic>
        <p:nvPicPr>
          <p:cNvPr id="11" name="Image 7" descr="connector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45200" y="3505200"/>
            <a:ext cx="101600" cy="1054100"/>
          </a:xfrm>
          <a:prstGeom prst="rect">
            <a:avLst/>
          </a:prstGeom>
        </p:spPr>
      </p:pic>
      <p:pic>
        <p:nvPicPr>
          <p:cNvPr id="12" name="Image 8" descr="connector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42201" y="3759200"/>
            <a:ext cx="1358900" cy="1308100"/>
          </a:xfrm>
          <a:prstGeom prst="rect">
            <a:avLst/>
          </a:prstGeom>
        </p:spPr>
      </p:pic>
      <p:pic>
        <p:nvPicPr>
          <p:cNvPr id="13" name="Image 9" descr="connector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185401" y="3759200"/>
            <a:ext cx="101600" cy="800100"/>
          </a:xfrm>
          <a:prstGeom prst="rect">
            <a:avLst/>
          </a:prstGeom>
        </p:spPr>
      </p:pic>
      <p:sp>
        <p:nvSpPr>
          <p:cNvPr id="14" name="Shape 2"/>
          <p:cNvSpPr/>
          <p:nvPr/>
        </p:nvSpPr>
        <p:spPr>
          <a:xfrm>
            <a:off x="815975" y="2162175"/>
            <a:ext cx="2787650" cy="1129877"/>
          </a:xfrm>
          <a:prstGeom prst="roundRect">
            <a:avLst>
              <a:gd name="adj" fmla="val 6463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5" name="Text 3"/>
          <p:cNvSpPr/>
          <p:nvPr/>
        </p:nvSpPr>
        <p:spPr>
          <a:xfrm>
            <a:off x="819573" y="2165772"/>
            <a:ext cx="2780454" cy="375920"/>
          </a:xfrm>
          <a:custGeom>
            <a:avLst/>
            <a:gdLst/>
            <a:ahLst/>
            <a:cxnLst/>
            <a:rect l="l" t="t" r="r" b="b"/>
            <a:pathLst>
              <a:path w="2780454" h="375920">
                <a:moveTo>
                  <a:pt x="0" y="69427"/>
                </a:moveTo>
                <a:arcTo wR="69427" hR="69427" stAng="10800000" swAng="5400000"/>
                <a:lnTo>
                  <a:pt x="2711027" y="0"/>
                </a:lnTo>
                <a:arcTo wR="69427" hR="69427" stAng="16200000" swAng="5400000"/>
                <a:lnTo>
                  <a:pt x="2780454" y="375920"/>
                </a:lnTo>
                <a:lnTo>
                  <a:pt x="0" y="375920"/>
                </a:lnTo>
                <a:close/>
              </a:path>
            </a:pathLst>
          </a:custGeom>
          <a:solidFill>
            <a:srgbClr val="14213D"/>
          </a:solidFill>
        </p:spPr>
        <p:txBody>
          <a:bodyPr wrap="square" lIns="152400" tIns="63500" rIns="78130" bIns="381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CourierTask</a:t>
            </a:r>
            <a:endParaRPr lang="en-US" sz="1400" dirty="0"/>
          </a:p>
        </p:txBody>
      </p:sp>
      <p:sp>
        <p:nvSpPr>
          <p:cNvPr id="16" name="Text 4"/>
          <p:cNvSpPr/>
          <p:nvPr/>
        </p:nvSpPr>
        <p:spPr>
          <a:xfrm>
            <a:off x="971973" y="2617893"/>
            <a:ext cx="2549923" cy="619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Id, CourierId, PackageId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TaskType, Status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AssignmentTime, IsLocked</a:t>
            </a:r>
            <a:endParaRPr lang="en-US" sz="1200" dirty="0"/>
          </a:p>
        </p:txBody>
      </p:sp>
      <p:sp>
        <p:nvSpPr>
          <p:cNvPr id="17" name="Shape 5"/>
          <p:cNvSpPr/>
          <p:nvPr/>
        </p:nvSpPr>
        <p:spPr>
          <a:xfrm>
            <a:off x="4702175" y="2162175"/>
            <a:ext cx="2787650" cy="1526117"/>
          </a:xfrm>
          <a:prstGeom prst="roundRect">
            <a:avLst>
              <a:gd name="adj" fmla="val 4785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8" name="Text 6"/>
          <p:cNvSpPr/>
          <p:nvPr/>
        </p:nvSpPr>
        <p:spPr>
          <a:xfrm>
            <a:off x="4705774" y="2165772"/>
            <a:ext cx="2780454" cy="375920"/>
          </a:xfrm>
          <a:custGeom>
            <a:avLst/>
            <a:gdLst/>
            <a:ahLst/>
            <a:cxnLst/>
            <a:rect l="l" t="t" r="r" b="b"/>
            <a:pathLst>
              <a:path w="2780454" h="375920">
                <a:moveTo>
                  <a:pt x="0" y="69427"/>
                </a:moveTo>
                <a:arcTo wR="69427" hR="69427" stAng="10800000" swAng="5400000"/>
                <a:lnTo>
                  <a:pt x="2711027" y="0"/>
                </a:lnTo>
                <a:arcTo wR="69427" hR="69427" stAng="16200000" swAng="5400000"/>
                <a:lnTo>
                  <a:pt x="2780454" y="375920"/>
                </a:lnTo>
                <a:lnTo>
                  <a:pt x="0" y="375920"/>
                </a:lnTo>
                <a:close/>
              </a:path>
            </a:pathLst>
          </a:custGeom>
          <a:solidFill>
            <a:srgbClr val="14213D"/>
          </a:solidFill>
        </p:spPr>
        <p:txBody>
          <a:bodyPr wrap="square" lIns="152400" tIns="63500" rIns="78130" bIns="381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</a:t>
            </a:r>
            <a:endParaRPr lang="en-US" sz="1400" dirty="0"/>
          </a:p>
        </p:txBody>
      </p:sp>
      <p:sp>
        <p:nvSpPr>
          <p:cNvPr id="19" name="Text 7"/>
          <p:cNvSpPr/>
          <p:nvPr/>
        </p:nvSpPr>
        <p:spPr>
          <a:xfrm>
            <a:off x="4858174" y="2617893"/>
            <a:ext cx="2549923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Id, UserName, Email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FirstName, LastName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PasswordHash, Address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PhoneNumber, Role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IsActive</a:t>
            </a:r>
            <a:endParaRPr lang="en-US" sz="1200" dirty="0"/>
          </a:p>
        </p:txBody>
      </p:sp>
      <p:sp>
        <p:nvSpPr>
          <p:cNvPr id="20" name="Shape 8"/>
          <p:cNvSpPr/>
          <p:nvPr/>
        </p:nvSpPr>
        <p:spPr>
          <a:xfrm>
            <a:off x="8588376" y="2162175"/>
            <a:ext cx="2787650" cy="1724237"/>
          </a:xfrm>
          <a:prstGeom prst="roundRect">
            <a:avLst>
              <a:gd name="adj" fmla="val 4235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8591974" y="2165772"/>
            <a:ext cx="2780454" cy="375920"/>
          </a:xfrm>
          <a:custGeom>
            <a:avLst/>
            <a:gdLst/>
            <a:ahLst/>
            <a:cxnLst/>
            <a:rect l="l" t="t" r="r" b="b"/>
            <a:pathLst>
              <a:path w="2780454" h="375920">
                <a:moveTo>
                  <a:pt x="0" y="69427"/>
                </a:moveTo>
                <a:arcTo wR="69427" hR="69427" stAng="10800000" swAng="5400000"/>
                <a:lnTo>
                  <a:pt x="2711027" y="0"/>
                </a:lnTo>
                <a:arcTo wR="69427" hR="69427" stAng="16200000" swAng="5400000"/>
                <a:lnTo>
                  <a:pt x="2780454" y="375920"/>
                </a:lnTo>
                <a:lnTo>
                  <a:pt x="0" y="375920"/>
                </a:lnTo>
                <a:close/>
              </a:path>
            </a:pathLst>
          </a:custGeom>
          <a:solidFill>
            <a:srgbClr val="14213D"/>
          </a:solidFill>
        </p:spPr>
        <p:txBody>
          <a:bodyPr wrap="square" lIns="152400" tIns="63500" rIns="78130" bIns="381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Package</a:t>
            </a:r>
            <a:endParaRPr lang="en-US" sz="1400" dirty="0"/>
          </a:p>
        </p:txBody>
      </p:sp>
      <p:sp>
        <p:nvSpPr>
          <p:cNvPr id="22" name="Text 10"/>
          <p:cNvSpPr/>
          <p:nvPr/>
        </p:nvSpPr>
        <p:spPr>
          <a:xfrm>
            <a:off x="8744374" y="2617893"/>
            <a:ext cx="2549923" cy="1214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Id, TrackingNumber, Size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Value, CurrentStatus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SenderId, SenderName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RecipientId, RecipientName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PickupDate, CreatedAt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DeliveryTimeWindow</a:t>
            </a:r>
            <a:endParaRPr lang="en-US" sz="1200" dirty="0"/>
          </a:p>
        </p:txBody>
      </p:sp>
      <p:sp>
        <p:nvSpPr>
          <p:cNvPr id="23" name="Shape 11"/>
          <p:cNvSpPr/>
          <p:nvPr/>
        </p:nvSpPr>
        <p:spPr>
          <a:xfrm>
            <a:off x="815975" y="4511675"/>
            <a:ext cx="2787650" cy="931757"/>
          </a:xfrm>
          <a:prstGeom prst="roundRect">
            <a:avLst>
              <a:gd name="adj" fmla="val 7837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4" name="Text 12"/>
          <p:cNvSpPr/>
          <p:nvPr/>
        </p:nvSpPr>
        <p:spPr>
          <a:xfrm>
            <a:off x="819573" y="4515272"/>
            <a:ext cx="2780454" cy="375920"/>
          </a:xfrm>
          <a:custGeom>
            <a:avLst/>
            <a:gdLst/>
            <a:ahLst/>
            <a:cxnLst/>
            <a:rect l="l" t="t" r="r" b="b"/>
            <a:pathLst>
              <a:path w="2780454" h="375920">
                <a:moveTo>
                  <a:pt x="0" y="69427"/>
                </a:moveTo>
                <a:arcTo wR="69427" hR="69427" stAng="10800000" swAng="5400000"/>
                <a:lnTo>
                  <a:pt x="2711027" y="0"/>
                </a:lnTo>
                <a:arcTo wR="69427" hR="69427" stAng="16200000" swAng="5400000"/>
                <a:lnTo>
                  <a:pt x="2780454" y="375920"/>
                </a:lnTo>
                <a:lnTo>
                  <a:pt x="0" y="375920"/>
                </a:lnTo>
                <a:close/>
              </a:path>
            </a:pathLst>
          </a:custGeom>
          <a:solidFill>
            <a:srgbClr val="14213D"/>
          </a:solidFill>
        </p:spPr>
        <p:txBody>
          <a:bodyPr wrap="square" lIns="152400" tIns="63500" rIns="78130" bIns="381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WarehouseLog</a:t>
            </a:r>
            <a:endParaRPr lang="en-US" sz="1400" dirty="0"/>
          </a:p>
        </p:txBody>
      </p:sp>
      <p:sp>
        <p:nvSpPr>
          <p:cNvPr id="25" name="Text 13"/>
          <p:cNvSpPr/>
          <p:nvPr/>
        </p:nvSpPr>
        <p:spPr>
          <a:xfrm>
            <a:off x="971973" y="4967393"/>
            <a:ext cx="2549923" cy="421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Id, Date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PackageCount, Capacity</a:t>
            </a:r>
            <a:endParaRPr lang="en-US" sz="1200" dirty="0"/>
          </a:p>
        </p:txBody>
      </p:sp>
      <p:sp>
        <p:nvSpPr>
          <p:cNvPr id="26" name="Shape 14"/>
          <p:cNvSpPr/>
          <p:nvPr/>
        </p:nvSpPr>
        <p:spPr>
          <a:xfrm>
            <a:off x="4702175" y="4511675"/>
            <a:ext cx="2787650" cy="931757"/>
          </a:xfrm>
          <a:prstGeom prst="roundRect">
            <a:avLst>
              <a:gd name="adj" fmla="val 7837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7" name="Text 15"/>
          <p:cNvSpPr/>
          <p:nvPr/>
        </p:nvSpPr>
        <p:spPr>
          <a:xfrm>
            <a:off x="4705774" y="4515272"/>
            <a:ext cx="2780454" cy="375920"/>
          </a:xfrm>
          <a:custGeom>
            <a:avLst/>
            <a:gdLst/>
            <a:ahLst/>
            <a:cxnLst/>
            <a:rect l="l" t="t" r="r" b="b"/>
            <a:pathLst>
              <a:path w="2780454" h="375920">
                <a:moveTo>
                  <a:pt x="0" y="69427"/>
                </a:moveTo>
                <a:arcTo wR="69427" hR="69427" stAng="10800000" swAng="5400000"/>
                <a:lnTo>
                  <a:pt x="2711027" y="0"/>
                </a:lnTo>
                <a:arcTo wR="69427" hR="69427" stAng="16200000" swAng="5400000"/>
                <a:lnTo>
                  <a:pt x="2780454" y="375920"/>
                </a:lnTo>
                <a:lnTo>
                  <a:pt x="0" y="375920"/>
                </a:lnTo>
                <a:close/>
              </a:path>
            </a:pathLst>
          </a:custGeom>
          <a:solidFill>
            <a:srgbClr val="14213D"/>
          </a:solidFill>
        </p:spPr>
        <p:txBody>
          <a:bodyPr wrap="square" lIns="152400" tIns="63500" rIns="78130" bIns="381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PackageStatusHistory</a:t>
            </a:r>
            <a:endParaRPr lang="en-US" sz="1400" dirty="0"/>
          </a:p>
        </p:txBody>
      </p:sp>
      <p:sp>
        <p:nvSpPr>
          <p:cNvPr id="28" name="Text 16"/>
          <p:cNvSpPr/>
          <p:nvPr/>
        </p:nvSpPr>
        <p:spPr>
          <a:xfrm>
            <a:off x="4858174" y="4967393"/>
            <a:ext cx="2549923" cy="421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Id, PackageId, CourierId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Status, ChangedAt</a:t>
            </a:r>
            <a:endParaRPr lang="en-US" sz="1200" dirty="0"/>
          </a:p>
        </p:txBody>
      </p:sp>
      <p:sp>
        <p:nvSpPr>
          <p:cNvPr id="29" name="Shape 17"/>
          <p:cNvSpPr/>
          <p:nvPr/>
        </p:nvSpPr>
        <p:spPr>
          <a:xfrm>
            <a:off x="9096376" y="4511675"/>
            <a:ext cx="2279650" cy="1129877"/>
          </a:xfrm>
          <a:prstGeom prst="roundRect">
            <a:avLst>
              <a:gd name="adj" fmla="val 6463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9099974" y="4515272"/>
            <a:ext cx="2272454" cy="375920"/>
          </a:xfrm>
          <a:custGeom>
            <a:avLst/>
            <a:gdLst/>
            <a:ahLst/>
            <a:cxnLst/>
            <a:rect l="l" t="t" r="r" b="b"/>
            <a:pathLst>
              <a:path w="2272454" h="375920">
                <a:moveTo>
                  <a:pt x="0" y="69427"/>
                </a:moveTo>
                <a:arcTo wR="69427" hR="69427" stAng="10800000" swAng="5400000"/>
                <a:lnTo>
                  <a:pt x="2203027" y="0"/>
                </a:lnTo>
                <a:arcTo wR="69427" hR="69427" stAng="16200000" swAng="5400000"/>
                <a:lnTo>
                  <a:pt x="2272454" y="375920"/>
                </a:lnTo>
                <a:lnTo>
                  <a:pt x="0" y="375920"/>
                </a:lnTo>
                <a:close/>
              </a:path>
            </a:pathLst>
          </a:custGeom>
          <a:solidFill>
            <a:srgbClr val="14213D"/>
          </a:solidFill>
        </p:spPr>
        <p:txBody>
          <a:bodyPr wrap="square" lIns="152400" tIns="63500" rIns="93370" bIns="381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ShippingFee</a:t>
            </a:r>
            <a:endParaRPr lang="en-US" sz="1400" dirty="0"/>
          </a:p>
        </p:txBody>
      </p:sp>
      <p:sp>
        <p:nvSpPr>
          <p:cNvPr id="31" name="Text 19"/>
          <p:cNvSpPr/>
          <p:nvPr/>
        </p:nvSpPr>
        <p:spPr>
          <a:xfrm>
            <a:off x="9252374" y="4967393"/>
            <a:ext cx="2026683" cy="619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Id, Type, MaxSize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RegisteredPrice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UnregisteredPrice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3683000" y="24892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0..*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4292600" y="24892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0..1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7543801" y="23114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0..1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8153401" y="23114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0..*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7543801" y="26924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0..1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8153401" y="26924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0..*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7543801" y="30734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0..1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8153401" y="30734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0..*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6172200" y="37846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0..1</a:t>
            </a:r>
            <a:endParaRPr lang="en-US" sz="1200" dirty="0"/>
          </a:p>
        </p:txBody>
      </p:sp>
      <p:sp>
        <p:nvSpPr>
          <p:cNvPr id="41" name="Text 29"/>
          <p:cNvSpPr/>
          <p:nvPr/>
        </p:nvSpPr>
        <p:spPr>
          <a:xfrm>
            <a:off x="6172200" y="42418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0..*</a:t>
            </a:r>
            <a:endParaRPr lang="en-US" sz="1200" dirty="0"/>
          </a:p>
        </p:txBody>
      </p:sp>
      <p:sp>
        <p:nvSpPr>
          <p:cNvPr id="42" name="Text 30"/>
          <p:cNvSpPr/>
          <p:nvPr/>
        </p:nvSpPr>
        <p:spPr>
          <a:xfrm>
            <a:off x="8826501" y="3911600"/>
            <a:ext cx="3048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31"/>
          <p:cNvSpPr/>
          <p:nvPr/>
        </p:nvSpPr>
        <p:spPr>
          <a:xfrm>
            <a:off x="7543801" y="47625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1..*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10312401" y="3911600"/>
            <a:ext cx="4572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0..*</a:t>
            </a:r>
            <a:endParaRPr lang="en-US" sz="1200" dirty="0"/>
          </a:p>
        </p:txBody>
      </p:sp>
      <p:sp>
        <p:nvSpPr>
          <p:cNvPr id="45" name="Text 33"/>
          <p:cNvSpPr/>
          <p:nvPr/>
        </p:nvSpPr>
        <p:spPr>
          <a:xfrm>
            <a:off x="10312401" y="4241800"/>
            <a:ext cx="3048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34"/>
          <p:cNvSpPr/>
          <p:nvPr/>
        </p:nvSpPr>
        <p:spPr>
          <a:xfrm>
            <a:off x="812800" y="3556000"/>
            <a:ext cx="2877820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User és a Package között három kapcsolat van: feladó, címzett és futár.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8501381" y="6238239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hu-HU" alt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JELENLEGI ÁLLAPOT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Az alapok és a bejelentkezés elkészültek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4060"/>
            <a:ext cx="6115368" cy="2758017"/>
          </a:xfrm>
          <a:prstGeom prst="roundRect">
            <a:avLst>
              <a:gd name="adj" fmla="val 3569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573" y="2221657"/>
            <a:ext cx="5768176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Elkészült</a:t>
            </a:r>
            <a:endParaRPr lang="en-US" sz="1800" dirty="0"/>
          </a:p>
        </p:txBody>
      </p:sp>
      <p:pic>
        <p:nvPicPr>
          <p:cNvPr id="6" name="Image 0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264202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3985" y="2623185"/>
            <a:ext cx="5437505" cy="3028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altLang="en-US" sz="1500" dirty="0"/>
              <a:t>Specifikáció, osztálydiagram, alap entitások és migrációk</a:t>
            </a:r>
            <a:endParaRPr lang="en-US" sz="1500" dirty="0"/>
          </a:p>
        </p:txBody>
      </p:sp>
      <p:pic>
        <p:nvPicPr>
          <p:cNvPr id="8" name="Image 1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303572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03773" y="3016678"/>
            <a:ext cx="458609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Regisztráció és bejelentkezés (API és felület)</a:t>
            </a:r>
            <a:endParaRPr lang="en-US" sz="1500" dirty="0"/>
          </a:p>
        </p:txBody>
      </p:sp>
      <p:pic>
        <p:nvPicPr>
          <p:cNvPr id="10" name="Image 2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342942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03773" y="3410378"/>
            <a:ext cx="3819906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 token generálása és ellenőrzése</a:t>
            </a:r>
            <a:endParaRPr lang="en-US" sz="1500" dirty="0"/>
          </a:p>
        </p:txBody>
      </p:sp>
      <p:pic>
        <p:nvPicPr>
          <p:cNvPr id="12" name="Image 3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3823128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03773" y="3804078"/>
            <a:ext cx="4446143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Szerepkör szerinti navigáció, visszajelzések</a:t>
            </a:r>
            <a:endParaRPr lang="en-US" sz="1500" dirty="0"/>
          </a:p>
        </p:txBody>
      </p:sp>
      <p:pic>
        <p:nvPicPr>
          <p:cNvPr id="14" name="Image 4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3573" y="4216828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03773" y="4197778"/>
            <a:ext cx="4522724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 munkafolyamat: branchek, pull requestek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7137718" y="1960885"/>
            <a:ext cx="4241483" cy="2764367"/>
          </a:xfrm>
          <a:prstGeom prst="roundRect">
            <a:avLst>
              <a:gd name="adj" fmla="val 3675"/>
            </a:avLst>
          </a:prstGeom>
          <a:solidFill>
            <a:srgbClr val="14213D"/>
          </a:solidFill>
        </p:spPr>
      </p:sp>
      <p:sp>
        <p:nvSpPr>
          <p:cNvPr id="17" name="Text 10"/>
          <p:cNvSpPr/>
          <p:nvPr/>
        </p:nvSpPr>
        <p:spPr>
          <a:xfrm>
            <a:off x="7391718" y="2214885"/>
            <a:ext cx="3845487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Következik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7391718" y="2616200"/>
            <a:ext cx="384548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 előjegyzése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7391718" y="3009900"/>
            <a:ext cx="384548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Csomagazonosító generálása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7391718" y="3403600"/>
            <a:ext cx="3845487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Nyilvános csomagkövetés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391718" y="4257892"/>
            <a:ext cx="3845487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Cél: 10.16., 2. beszámoló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812800" y="5080850"/>
            <a:ext cx="10883393" cy="52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Kipróbálva:</a:t>
            </a:r>
            <a:r>
              <a:rPr lang="en-US" sz="14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sikeres és hibás regisztráció, belépés rossz jelszóval és ismeretlen felhasználóval, kijelentkezés; a backend hibaüzenetei a felületen is megjelennek.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8501381" y="6238242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35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1381" y="6238236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5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ÜTEMEZÉS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58"/>
            <a:ext cx="10883393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Minden beszámolóra egy szereplő funkciói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1911350"/>
            <a:ext cx="2000779" cy="3576320"/>
          </a:xfrm>
          <a:prstGeom prst="roundRect">
            <a:avLst>
              <a:gd name="adj" fmla="val 5078"/>
            </a:avLst>
          </a:prstGeom>
          <a:solidFill>
            <a:srgbClr val="14213D"/>
          </a:solidFill>
        </p:spPr>
      </p:sp>
      <p:sp>
        <p:nvSpPr>
          <p:cNvPr id="6" name="Text 4"/>
          <p:cNvSpPr/>
          <p:nvPr/>
        </p:nvSpPr>
        <p:spPr>
          <a:xfrm>
            <a:off x="990600" y="2089150"/>
            <a:ext cx="1695979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10.02.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90600" y="2569208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beszámoló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871465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SZOFTVER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2106" y="3135629"/>
            <a:ext cx="1584473" cy="1092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Specifikáció, architektúra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Adatmodell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Regisztráció, bejelentkezés (kész)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90600" y="4512940"/>
            <a:ext cx="1645179" cy="0"/>
          </a:xfrm>
          <a:prstGeom prst="line">
            <a:avLst/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" y="4605443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02106" y="4869600"/>
            <a:ext cx="1584473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Specifikáció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43754" y="1914525"/>
            <a:ext cx="2008082" cy="3569970"/>
          </a:xfrm>
          <a:prstGeom prst="roundRect">
            <a:avLst>
              <a:gd name="adj" fmla="val 490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5153" y="2095922"/>
            <a:ext cx="1696085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10.16.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25153" y="2575979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beszámoló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25153" y="2878243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SZOFTVER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36659" y="3142400"/>
            <a:ext cx="1584579" cy="878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 előjegyzése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Csomagazonosító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Nyilvános követés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25153" y="4519718"/>
            <a:ext cx="1645285" cy="0"/>
          </a:xfrm>
          <a:prstGeom prst="line">
            <a:avLst/>
          </a:prstGeom>
          <a:noFill/>
          <a:ln w="6350">
            <a:solidFill>
              <a:srgbClr val="DCD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5153" y="4612215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36659" y="4876372"/>
            <a:ext cx="1584579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Bevezetés, követelmények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85186" y="1914525"/>
            <a:ext cx="2007976" cy="3569970"/>
          </a:xfrm>
          <a:prstGeom prst="roundRect">
            <a:avLst>
              <a:gd name="adj" fmla="val 4902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584" y="2095922"/>
            <a:ext cx="1695979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10.30.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66584" y="2575979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beszámoló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66584" y="2878243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SZOFTVER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78090" y="3142400"/>
            <a:ext cx="1584473" cy="1305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Raktáros: bevételezés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Felvétel és kiszállítás kiosztása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Felhasználó csomaglistái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66584" y="4519718"/>
            <a:ext cx="1645179" cy="0"/>
          </a:xfrm>
          <a:prstGeom prst="line">
            <a:avLst/>
          </a:prstGeom>
          <a:noFill/>
          <a:ln w="6350">
            <a:solidFill>
              <a:srgbClr val="DCD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584" y="4612215"/>
            <a:ext cx="16959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78090" y="4876372"/>
            <a:ext cx="1584473" cy="45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Rendszerterv, adatmodell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6512" y="1914525"/>
            <a:ext cx="2008082" cy="3569970"/>
          </a:xfrm>
          <a:prstGeom prst="roundRect">
            <a:avLst>
              <a:gd name="adj" fmla="val 490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7911" y="2095922"/>
            <a:ext cx="1696085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11.20.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407911" y="2575979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beszámoló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7911" y="2878243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SZOFTVER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19417" y="3142400"/>
            <a:ext cx="1584579" cy="1305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Futár: feladatok, státuszok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Előzmények, módosítás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Admin: kezelés, átrendelés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07911" y="4519718"/>
            <a:ext cx="1645285" cy="0"/>
          </a:xfrm>
          <a:prstGeom prst="line">
            <a:avLst/>
          </a:prstGeom>
          <a:noFill/>
          <a:ln w="6350">
            <a:solidFill>
              <a:srgbClr val="DCD8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7911" y="4612215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19417" y="4876372"/>
            <a:ext cx="15845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Megvalósítás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367944" y="1914525"/>
            <a:ext cx="2008082" cy="3569970"/>
          </a:xfrm>
          <a:prstGeom prst="roundRect">
            <a:avLst>
              <a:gd name="adj" fmla="val 4901"/>
            </a:avLst>
          </a:prstGeom>
          <a:solidFill>
            <a:srgbClr val="FDFCF9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49342" y="2095922"/>
            <a:ext cx="1696085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12.11.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549342" y="2575979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beszámoló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49342" y="2878243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SZOFTVER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60848" y="3142400"/>
            <a:ext cx="1584579" cy="878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Statisztikák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Tesztelés, hibajavítás</a:t>
            </a:r>
            <a:endParaRPr lang="en-US" sz="1200" dirty="0"/>
          </a:p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Bemutató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49342" y="4519718"/>
            <a:ext cx="1645285" cy="0"/>
          </a:xfrm>
          <a:prstGeom prst="line">
            <a:avLst/>
          </a:prstGeom>
          <a:noFill/>
          <a:ln w="6350">
            <a:solidFill>
              <a:srgbClr val="DCD8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49342" y="4612215"/>
            <a:ext cx="169608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DOLGOZAT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660848" y="4876372"/>
            <a:ext cx="158457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Végleges leadás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179315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0A35E"/>
          </a:solidFill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2509515"/>
            <a:ext cx="10883393" cy="825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Köszönjük a figyelmet!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563615"/>
            <a:ext cx="10883393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0A3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Kérdések?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208779"/>
            <a:ext cx="10883393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részletes specifikáció a repó docs mappájában: docs/Projekt_specifikacio.md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6202679"/>
            <a:ext cx="7848601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GitHub: </a:t>
            </a:r>
            <a:r>
              <a:rPr lang="en-US" sz="1400" u="sng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github.com/Mia2013/csomagkezelo-rendszer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1381" y="6238236"/>
            <a:ext cx="287782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omagkezelő rendszer – 1. beszámoló">
  <a:themeElements>
    <a:clrScheme name="Csomagkezelő rendszer – 1. beszámoló">
      <a:dk1>
        <a:srgbClr val="14213D"/>
      </a:dk1>
      <a:lt1>
        <a:srgbClr val="F6F5F1"/>
      </a:lt1>
      <a:dk2>
        <a:srgbClr val="4D566A"/>
      </a:dk2>
      <a:lt2>
        <a:srgbClr val="DFE0DF"/>
      </a:lt2>
      <a:accent1>
        <a:srgbClr val="B5541A"/>
      </a:accent1>
      <a:accent2>
        <a:srgbClr val="F0A35E"/>
      </a:accent2>
      <a:accent3>
        <a:srgbClr val="4A5568"/>
      </a:accent3>
      <a:accent4>
        <a:srgbClr val="C9D3E3"/>
      </a:accent4>
      <a:accent5>
        <a:srgbClr val="5E6573"/>
      </a:accent5>
      <a:accent6>
        <a:srgbClr val="535A68"/>
      </a:accent6>
      <a:hlink>
        <a:srgbClr val="0563C1"/>
      </a:hlink>
      <a:folHlink>
        <a:srgbClr val="954F72"/>
      </a:folHlink>
    </a:clrScheme>
    <a:fontScheme name="Csomagkezelő rendszer – 1. beszámoló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somagkezelő rendszer – 1. beszámoló">
  <a:themeElements>
    <a:clrScheme name="Csomagkezelő rendszer – 1. beszámoló">
      <a:dk1>
        <a:srgbClr val="14213D"/>
      </a:dk1>
      <a:lt1>
        <a:srgbClr val="F6F5F1"/>
      </a:lt1>
      <a:dk2>
        <a:srgbClr val="4D566A"/>
      </a:dk2>
      <a:lt2>
        <a:srgbClr val="DFE0DF"/>
      </a:lt2>
      <a:accent1>
        <a:srgbClr val="B5541A"/>
      </a:accent1>
      <a:accent2>
        <a:srgbClr val="F0A35E"/>
      </a:accent2>
      <a:accent3>
        <a:srgbClr val="4A5568"/>
      </a:accent3>
      <a:accent4>
        <a:srgbClr val="C9D3E3"/>
      </a:accent4>
      <a:accent5>
        <a:srgbClr val="5E6573"/>
      </a:accent5>
      <a:accent6>
        <a:srgbClr val="535A68"/>
      </a:accent6>
      <a:hlink>
        <a:srgbClr val="0563C1"/>
      </a:hlink>
      <a:folHlink>
        <a:srgbClr val="954F72"/>
      </a:folHlink>
    </a:clrScheme>
    <a:fontScheme name="Csomagkezelő rendszer – 1. beszámoló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5228</Words>
  <Application>WPS Presentation</Application>
  <PresentationFormat>On-screen Show (16:9)</PresentationFormat>
  <Paragraphs>416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Arial</vt:lpstr>
      <vt:lpstr>Microsoft YaHei</vt:lpstr>
      <vt:lpstr>Arial Unicode MS</vt:lpstr>
      <vt:lpstr>Calibri</vt:lpstr>
      <vt:lpstr>Csomagkezelő rendszer – 1. beszámoló</vt:lpstr>
      <vt:lpstr>Csomagkezelő rendszer</vt:lpstr>
      <vt:lpstr>C# backend, React frontend</vt:lpstr>
      <vt:lpstr>Háromrétegű kliens–szerver felépítés</vt:lpstr>
      <vt:lpstr>A csomag teljes útja egy rendszerben</vt:lpstr>
      <vt:lpstr>Minden szereplő a saját feladatait látja</vt:lpstr>
      <vt:lpstr>Hat entitás köré épül a rendszer</vt:lpstr>
      <vt:lpstr>Hét állapot az előjegyzéstől a kézbesítésig</vt:lpstr>
      <vt:lpstr>Kapcsolatok az osztályok között</vt:lpstr>
      <vt:lpstr>Az alapok és a bejelentkezés elkészültek</vt:lpstr>
      <vt:lpstr>Minden beszámolóra egy szereplő funkciói</vt:lpstr>
      <vt:lpstr>Köszönjük a figyelmet!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Csomagkezelő rendszer – 1. beszámoló</dc:title>
  <dc:creator/>
  <cp:lastModifiedBy>Blaaa Blabla</cp:lastModifiedBy>
  <cp:revision>7</cp:revision>
  <dcterms:created xsi:type="dcterms:W3CDTF">2026-10-01T13:38:00Z</dcterms:created>
  <dcterms:modified xsi:type="dcterms:W3CDTF">2026-10-01T20:29:48Z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527BCFE2EBD44C35A39F7976F9391348_12</vt:lpwstr>
  </property>
</Properties>
</file>